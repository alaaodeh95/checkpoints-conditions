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3" r:id="rId10"/>
    <p:sldId id="26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P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3"/>
  </p:normalViewPr>
  <p:slideViewPr>
    <p:cSldViewPr snapToGrid="0">
      <p:cViewPr varScale="1">
        <p:scale>
          <a:sx n="104" d="100"/>
          <a:sy n="104" d="100"/>
        </p:scale>
        <p:origin x="113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A5E3-4B74-AF11-6E78-67511900B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AC235-235D-EC42-2D3C-D855BDFC0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1FB3-709A-4E14-16E2-2B2821D6E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9923-D597-E7C1-B962-C0CD0F75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3E875-F8A7-13C0-CAB1-7FF48A78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89553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1E38-1DDC-92BA-FD22-A47BA236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4482-9D93-9770-91D4-EE86500B4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3E3E5-535F-4B81-D33C-41A403C88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A1BD2-6444-F211-BDDA-DF2ED272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224CA-AE4F-E395-D159-A579033B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73085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9B3F-1DD8-6246-5B35-3DB7B361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1C1B1-A8C4-C0A8-193D-BF7C4E3CA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7B2A4-674D-E5AA-D734-CC232C13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7754F-9C93-DC99-5281-B36AB2AE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35F04-7FAF-77ED-DE91-F368BD82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407502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E353-9C17-3633-1D13-490937FD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33E0-0367-71C9-86D0-63E0BB4EF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5D664-1666-5165-745E-F3027C4C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D17CA-117E-3C1F-E160-4BD01637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B2968-8BF4-CF1E-EC34-1C2CB098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DB2A6-E69F-8B88-AD5B-D34B412C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29448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FF70-BC22-7B75-8AD0-48E173E5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FC45B-8B1D-4802-20F7-4852F816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DE600-5388-9167-18F2-3638F393E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CD111-8BB0-6E41-F317-A9DC24C9F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0FC65-CDE6-A9A4-0982-4B740EBAB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35A53-E72A-6E40-9DDC-1DA350E9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E980A-9F79-CF36-5D76-9F215C5C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2E8E46-F44F-0F4F-2A8E-180B0ED5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416783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E0CC-9110-39A2-DFB1-D93C1CCC8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740BE-B10A-4E3C-9AB9-73FACF27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2DFCD-2BC6-B704-B472-68C5ED3A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A1AB2-1BEC-A6C6-6A4F-3F4CBB19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48524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4D7F7-6FCC-EAEE-3A2C-32E0A09D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9BD66-53C7-4AC3-2836-7C4B44B6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DC336-1396-F596-89C7-AF19086C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19683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DE09-B996-1327-7F1A-5720B444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52F8-7B02-3520-24B6-287A9F166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10CD8-8A58-5287-C9A0-365D8FA46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6DA9C-B8F8-53F0-1116-31068BBD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DAE50-1844-664A-31C1-834FE557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662BD-8C9E-79E4-1687-A5E20BA3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63872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26E4-7238-2746-991E-66392C919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D5EF7-2264-D317-3EF7-65B853000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2B188-C24C-700E-EBF2-7FD7715CD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A7E9F-C4B9-4D34-C8B5-1EF9D40F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5D40F-E0DC-A94A-DE4F-6BAEA482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4C287-051D-6C77-ACF9-757B4D9A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80249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A1148-3EA5-4FA5-23AF-298248B4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2BF2E-923B-421B-669E-0BB6635BD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0B8FB-A853-0250-2B3D-7C917636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314A-F7C7-4A1D-236A-0F1EF2A0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33628-8ED7-3FE6-6DA4-7486D1EF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80562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90847-CC4E-FC39-2759-0CA91CE5E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9D7D1-382C-1ED8-1DCB-6ED2F7141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7743A-9357-ADBF-83CE-E3615BAA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0B7B0-8116-581B-18A1-44D99FAA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0B5DA-EE7F-6721-DB7E-D796C92F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6438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782D7-DF7F-DBCB-15F6-F41954DE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2091D-0885-5CD2-0993-0CCBF5C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EE271-828B-BD5D-AC50-5FC83C1E3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7C24F-E211-BC4E-B11F-7907F6001DB3}" type="datetimeFigureOut">
              <a:rPr lang="en-PS" smtClean="0"/>
              <a:t>03/01/2025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324B8-DBF7-49F5-11A6-ED2E02758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6EFD-423F-DA84-EE0E-47BA75FA2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426A-E39B-414A-BF65-09F12A8A2445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89390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6D67-20DD-4EDF-1239-6BB12D790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S" dirty="0"/>
              <a:t>Checkpoints Conditions Stream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7FCD7-C72E-8A06-4A7E-8D88B95FC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S" dirty="0"/>
              <a:t>By: Aladdin Odeh</a:t>
            </a:r>
          </a:p>
        </p:txBody>
      </p:sp>
    </p:spTree>
    <p:extLst>
      <p:ext uri="{BB962C8B-B14F-4D97-AF65-F5344CB8AC3E}">
        <p14:creationId xmlns:p14="http://schemas.microsoft.com/office/powerpoint/2010/main" val="397880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AF06-4E37-CFCC-F8B1-027EC6B4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Why Checkpoints conditions?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6CFC-6062-3B02-B76C-BBE1CE61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Checkpoints are a major issue in Palestine.</a:t>
            </a:r>
          </a:p>
          <a:p>
            <a:endParaRPr lang="en-US" dirty="0"/>
          </a:p>
          <a:p>
            <a:r>
              <a:rPr lang="en-US" dirty="0"/>
              <a:t>Navigating through multiple channels that report checkpoint statuses is challenging, yet essential.</a:t>
            </a:r>
          </a:p>
          <a:p>
            <a:endParaRPr lang="en-US" dirty="0"/>
          </a:p>
          <a:p>
            <a:r>
              <a:rPr lang="en-US" dirty="0"/>
              <a:t>Analyzing this data can reveal hidden patterns that assist in planning future trips.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73921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D2AC-5895-BAE1-3E77-C5FFE222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What this project covers?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0FB01-728A-907D-6530-19B94415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S" dirty="0"/>
              <a:t>A standalone system with the following features:</a:t>
            </a:r>
          </a:p>
          <a:p>
            <a:r>
              <a:rPr lang="en-US" dirty="0"/>
              <a:t>A data producer that listens to multiple data sources reporting road conditions and publishes the data to the next stage.</a:t>
            </a:r>
          </a:p>
          <a:p>
            <a:endParaRPr lang="en-US" dirty="0"/>
          </a:p>
          <a:p>
            <a:r>
              <a:rPr lang="en-US" dirty="0"/>
              <a:t>Multiple consumers that process the raw data in real-time streams, aggregating it over a time window to generate valuable insights.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3840711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61361-9C97-F454-8E40-05645565A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0030-FC22-3882-762F-B1224811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What this project covers?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B0FBC-B253-5204-13D6-728725651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 web app that displays the latest status, along with dashboards that extract insights about road conditions.</a:t>
            </a:r>
          </a:p>
          <a:p>
            <a:endParaRPr lang="en-US" dirty="0"/>
          </a:p>
          <a:p>
            <a:r>
              <a:rPr lang="en-US" dirty="0"/>
              <a:t>A predictor for road conditions, trained using the processed data.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217328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1925-87A5-87AB-7623-8EB665A0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Technologies: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B550-6211-A64C-C32A-C2C62DD3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S" dirty="0"/>
              <a:t>Streaming pipeline: Spark, Kafka, Spark structured streaming written using scala.</a:t>
            </a:r>
          </a:p>
          <a:p>
            <a:r>
              <a:rPr lang="en-PS" dirty="0"/>
              <a:t>Telegram producers: Python process that uses telegram telethon lib.</a:t>
            </a:r>
          </a:p>
          <a:p>
            <a:r>
              <a:rPr lang="en-PS" dirty="0"/>
              <a:t>Mongo db for storage.</a:t>
            </a:r>
          </a:p>
          <a:p>
            <a:r>
              <a:rPr lang="en-PS" dirty="0"/>
              <a:t>Node js API to query aggegated data from mongo db.</a:t>
            </a:r>
          </a:p>
          <a:p>
            <a:r>
              <a:rPr lang="en-PS" dirty="0"/>
              <a:t>React web app to visualize all functioninalites</a:t>
            </a:r>
          </a:p>
          <a:p>
            <a:r>
              <a:rPr lang="en-PS" dirty="0"/>
              <a:t>Python api for checkpoint status prediction.</a:t>
            </a:r>
          </a:p>
        </p:txBody>
      </p:sp>
    </p:spTree>
    <p:extLst>
      <p:ext uri="{BB962C8B-B14F-4D97-AF65-F5344CB8AC3E}">
        <p14:creationId xmlns:p14="http://schemas.microsoft.com/office/powerpoint/2010/main" val="2803586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1ABA-49AE-F77B-5430-55A47DF3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System Design: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37975F-19F0-A86E-DD1F-8A7D1B19B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4178" y="1825625"/>
            <a:ext cx="98436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35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0E3F-1EC4-AFAD-F153-E394A66B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Producer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E1097-2721-CF01-5B87-1EE0D89F8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S" dirty="0"/>
              <a:t>There are 2 data producers that use Telegram api client (telethon):</a:t>
            </a:r>
          </a:p>
          <a:p>
            <a:endParaRPr lang="en-PS" dirty="0"/>
          </a:p>
          <a:p>
            <a:pPr marL="0" indent="0">
              <a:buNone/>
            </a:pPr>
            <a:r>
              <a:rPr lang="en-PS" dirty="0"/>
              <a:t>1-  A real-time producer which fetches the recent messages every couple of seconds.</a:t>
            </a:r>
          </a:p>
          <a:p>
            <a:pPr marL="0" indent="0">
              <a:buNone/>
            </a:pPr>
            <a:endParaRPr lang="en-PS" dirty="0"/>
          </a:p>
          <a:p>
            <a:pPr marL="0" indent="0">
              <a:buNone/>
            </a:pPr>
            <a:r>
              <a:rPr lang="en-PS" dirty="0"/>
              <a:t>2- A fill back producer which can fetch, sync, populate data for x days lookback period.</a:t>
            </a:r>
          </a:p>
        </p:txBody>
      </p:sp>
    </p:spTree>
    <p:extLst>
      <p:ext uri="{BB962C8B-B14F-4D97-AF65-F5344CB8AC3E}">
        <p14:creationId xmlns:p14="http://schemas.microsoft.com/office/powerpoint/2010/main" val="138109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ECAB-F17D-7EEE-6B39-D07A2AE0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Spark structured streaming kafka consumers: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F32D-894D-78C0-DE5D-6953C23AB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S" dirty="0"/>
              <a:t>Raw Messages consumer:</a:t>
            </a:r>
          </a:p>
          <a:p>
            <a:r>
              <a:rPr lang="en-PS" dirty="0"/>
              <a:t> It takes messages from producer, filter out duplicate message, process the messages and push them to the next consumer, and to mongodb.</a:t>
            </a:r>
          </a:p>
          <a:p>
            <a:endParaRPr lang="en-PS" dirty="0"/>
          </a:p>
          <a:p>
            <a:pPr marL="0" indent="0">
              <a:buNone/>
            </a:pPr>
            <a:r>
              <a:rPr lang="en-PS" dirty="0"/>
              <a:t>Structured Messages consumer:</a:t>
            </a:r>
          </a:p>
          <a:p>
            <a:r>
              <a:rPr lang="en-PS"/>
              <a:t>It makes a real-time aggregations over a window of 1 hour for the structured data and save it in mongodb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384212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C85A-085F-B14D-526C-817B1B90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Challenges: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F1F0F-6E6A-18B6-1422-2833D75A6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S" dirty="0"/>
              <a:t>Telegram API limitations.</a:t>
            </a:r>
          </a:p>
          <a:p>
            <a:endParaRPr lang="en-PS" dirty="0"/>
          </a:p>
          <a:p>
            <a:r>
              <a:rPr lang="en-PS" dirty="0"/>
              <a:t>Jar bundling and submitting.</a:t>
            </a:r>
          </a:p>
          <a:p>
            <a:endParaRPr lang="en-PS" dirty="0"/>
          </a:p>
          <a:p>
            <a:r>
              <a:rPr lang="en-PS" dirty="0"/>
              <a:t>Defining the requirments of the product.</a:t>
            </a:r>
          </a:p>
        </p:txBody>
      </p:sp>
    </p:spTree>
    <p:extLst>
      <p:ext uri="{BB962C8B-B14F-4D97-AF65-F5344CB8AC3E}">
        <p14:creationId xmlns:p14="http://schemas.microsoft.com/office/powerpoint/2010/main" val="260531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6F3E-CF51-735C-3EA5-022F3102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Duplication Handling: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94FFE-38BF-AC67-C9EA-CA837FE41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S" dirty="0"/>
              <a:t>A bloom filter was used to handle duplicate messages.</a:t>
            </a:r>
          </a:p>
          <a:p>
            <a:pPr lvl="1"/>
            <a:r>
              <a:rPr lang="en-US" dirty="0"/>
              <a:t>This proved to be very handy with the Telegram API limitations, which can cause duplicate messages in some cases. Additionally, it allows for some overlap between the real-time messaging service and the fallback service.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3942772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382C-6AE3-8EBB-5705-F5A1A459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Why two consumers: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17889-909E-58C7-66CB-F9C59FE9C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Decoupling</a:t>
            </a:r>
            <a:r>
              <a:rPr lang="en-US" sz="2000" dirty="0"/>
              <a:t>: One consumer focuses on processing raw data (validation, enrichment), while the other specializes in aggregating processed data for reporting which simplifies debugging and scaling.</a:t>
            </a:r>
          </a:p>
          <a:p>
            <a:endParaRPr lang="en-US" sz="2000" dirty="0"/>
          </a:p>
          <a:p>
            <a:r>
              <a:rPr lang="en-US" sz="2000" b="1" dirty="0"/>
              <a:t>Enhanced Fault Tolerance</a:t>
            </a:r>
            <a:r>
              <a:rPr lang="en-US" sz="2000" dirty="0"/>
              <a:t>: If one consumer fails, the other can continue functioning. For instance, processing can proceed even if aggregation faces issues, and vice versa.</a:t>
            </a:r>
          </a:p>
          <a:p>
            <a:endParaRPr lang="en-US" sz="2000" dirty="0"/>
          </a:p>
          <a:p>
            <a:r>
              <a:rPr lang="en-US" sz="2000" b="1" dirty="0"/>
              <a:t>Specialized Processing</a:t>
            </a:r>
            <a:r>
              <a:rPr lang="en-US" sz="2000" dirty="0"/>
              <a:t>: Processing consumer can focus on transforming individual records, while the aggregation consumer can work on batch processing, grouping, and summarizing records.</a:t>
            </a:r>
          </a:p>
          <a:p>
            <a:endParaRPr lang="en-US" sz="2000" dirty="0"/>
          </a:p>
          <a:p>
            <a:r>
              <a:rPr lang="en-US" sz="2000" b="1" dirty="0"/>
              <a:t>Flexibility for Consumers</a:t>
            </a:r>
            <a:r>
              <a:rPr lang="en-US" sz="2000" dirty="0"/>
              <a:t>: Other systems can consume data from either the processing topic (for real-time needs) or the aggregation topic (for summarized insights) without interfering with each other.</a:t>
            </a:r>
          </a:p>
        </p:txBody>
      </p:sp>
    </p:spTree>
    <p:extLst>
      <p:ext uri="{BB962C8B-B14F-4D97-AF65-F5344CB8AC3E}">
        <p14:creationId xmlns:p14="http://schemas.microsoft.com/office/powerpoint/2010/main" val="3430415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1A61-53D8-728B-401C-DD897E891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The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A9C3-5EA4-D4AE-1FE6-7A3BEAAF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this amount of structured data, it becomes irresistible to experiment with a transformer model to predict future checkpoint conditions.</a:t>
            </a:r>
          </a:p>
          <a:p>
            <a:endParaRPr lang="en-US" dirty="0"/>
          </a:p>
          <a:p>
            <a:r>
              <a:rPr lang="en-US" dirty="0"/>
              <a:t>The model primarily relies on cyclic features (such as the day of the week and the hour of the day) to predict checkpoint status.</a:t>
            </a:r>
          </a:p>
          <a:p>
            <a:endParaRPr lang="en-US" dirty="0"/>
          </a:p>
          <a:p>
            <a:r>
              <a:rPr lang="en-US" dirty="0"/>
              <a:t>A voting classifier was trained, achieving an overall accuracy of 80%, with significant potential for improvement.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3989827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354C0-A683-91C3-A07A-60644D1D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34645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576</Words>
  <Application>Microsoft Macintosh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Checkpoints Conditions Stream Analysis</vt:lpstr>
      <vt:lpstr>Why Checkpoints conditions?</vt:lpstr>
      <vt:lpstr>What this project covers?</vt:lpstr>
      <vt:lpstr>What this project covers?</vt:lpstr>
      <vt:lpstr>Technologies:</vt:lpstr>
      <vt:lpstr>System Design:</vt:lpstr>
      <vt:lpstr>Producer</vt:lpstr>
      <vt:lpstr>Spark structured streaming kafka consumers:</vt:lpstr>
      <vt:lpstr>Challenges:</vt:lpstr>
      <vt:lpstr>Duplication Handling:</vt:lpstr>
      <vt:lpstr>Why two consumers:</vt:lpstr>
      <vt:lpstr>The prediction model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Aladdin Odeh</dc:creator>
  <cp:lastModifiedBy>Aladdin Odeh</cp:lastModifiedBy>
  <cp:revision>4</cp:revision>
  <dcterms:created xsi:type="dcterms:W3CDTF">2025-01-03T20:03:24Z</dcterms:created>
  <dcterms:modified xsi:type="dcterms:W3CDTF">2025-01-04T06:04:11Z</dcterms:modified>
</cp:coreProperties>
</file>